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Inter Medium" charset="1" panose="02000503000000020004"/>
      <p:regular r:id="rId18"/>
    </p:embeddedFont>
    <p:embeddedFont>
      <p:font typeface="Montserrat" charset="1" panose="00000500000000000000"/>
      <p:regular r:id="rId19"/>
    </p:embeddedFont>
    <p:embeddedFont>
      <p:font typeface="Inter" charset="1" panose="020B0502030000000004"/>
      <p:regular r:id="rId20"/>
    </p:embeddedFont>
    <p:embeddedFont>
      <p:font typeface="Montserrat Ultra-Bold" charset="1" panose="000009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38201" y="-4534373"/>
            <a:ext cx="10052046" cy="10052046"/>
          </a:xfrm>
          <a:custGeom>
            <a:avLst/>
            <a:gdLst/>
            <a:ahLst/>
            <a:cxnLst/>
            <a:rect r="r" b="b" t="t" l="l"/>
            <a:pathLst>
              <a:path h="10052046" w="10052046">
                <a:moveTo>
                  <a:pt x="0" y="0"/>
                </a:moveTo>
                <a:lnTo>
                  <a:pt x="10052046" y="0"/>
                </a:lnTo>
                <a:lnTo>
                  <a:pt x="10052046" y="10052045"/>
                </a:lnTo>
                <a:lnTo>
                  <a:pt x="0" y="1005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578805"/>
            <a:ext cx="1028700" cy="127315"/>
            <a:chOff x="0" y="0"/>
            <a:chExt cx="812800" cy="100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5555" y="3838984"/>
            <a:ext cx="18004546" cy="167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91"/>
              </a:lnSpc>
            </a:pPr>
            <a:r>
              <a:rPr lang="en-US" b="true" sz="107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BANK OF PATAGONIA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939980" y="6484586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88795" y="578805"/>
            <a:ext cx="1028700" cy="127315"/>
            <a:chOff x="0" y="0"/>
            <a:chExt cx="812800" cy="100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069778" y="1060288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802643" y="7216694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7315200" y="0"/>
                </a:moveTo>
                <a:lnTo>
                  <a:pt x="0" y="0"/>
                </a:lnTo>
                <a:lnTo>
                  <a:pt x="0" y="4083212"/>
                </a:lnTo>
                <a:lnTo>
                  <a:pt x="7315200" y="408321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40897" y="5498622"/>
            <a:ext cx="7973862" cy="64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7"/>
              </a:lnSpc>
            </a:pPr>
            <a:r>
              <a:rPr lang="en-US" b="true" sz="4118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BY SANTI, KURT, CARTER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13845" y="8483103"/>
            <a:ext cx="2781969" cy="775197"/>
            <a:chOff x="0" y="0"/>
            <a:chExt cx="803650" cy="2239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3650" cy="223938"/>
            </a:xfrm>
            <a:custGeom>
              <a:avLst/>
              <a:gdLst/>
              <a:ahLst/>
              <a:cxnLst/>
              <a:rect r="r" b="b" t="t" l="l"/>
              <a:pathLst>
                <a:path h="223938" w="803650">
                  <a:moveTo>
                    <a:pt x="111969" y="0"/>
                  </a:moveTo>
                  <a:lnTo>
                    <a:pt x="691681" y="0"/>
                  </a:lnTo>
                  <a:cubicBezTo>
                    <a:pt x="721377" y="0"/>
                    <a:pt x="749857" y="11797"/>
                    <a:pt x="770855" y="32795"/>
                  </a:cubicBezTo>
                  <a:cubicBezTo>
                    <a:pt x="791854" y="53793"/>
                    <a:pt x="803650" y="82273"/>
                    <a:pt x="803650" y="111969"/>
                  </a:cubicBezTo>
                  <a:lnTo>
                    <a:pt x="803650" y="111969"/>
                  </a:lnTo>
                  <a:cubicBezTo>
                    <a:pt x="803650" y="173807"/>
                    <a:pt x="753520" y="223938"/>
                    <a:pt x="691681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3650" cy="262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pc="-94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 260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26075" y="8483103"/>
            <a:ext cx="1316906" cy="775197"/>
            <a:chOff x="0" y="0"/>
            <a:chExt cx="380425" cy="2239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0425" cy="223938"/>
            </a:xfrm>
            <a:custGeom>
              <a:avLst/>
              <a:gdLst/>
              <a:ahLst/>
              <a:cxnLst/>
              <a:rect r="r" b="b" t="t" l="l"/>
              <a:pathLst>
                <a:path h="223938" w="380425">
                  <a:moveTo>
                    <a:pt x="111969" y="0"/>
                  </a:moveTo>
                  <a:lnTo>
                    <a:pt x="268457" y="0"/>
                  </a:lnTo>
                  <a:cubicBezTo>
                    <a:pt x="298153" y="0"/>
                    <a:pt x="326632" y="11797"/>
                    <a:pt x="347630" y="32795"/>
                  </a:cubicBezTo>
                  <a:cubicBezTo>
                    <a:pt x="368629" y="53793"/>
                    <a:pt x="380425" y="82273"/>
                    <a:pt x="380425" y="111969"/>
                  </a:cubicBezTo>
                  <a:lnTo>
                    <a:pt x="380425" y="111969"/>
                  </a:lnTo>
                  <a:cubicBezTo>
                    <a:pt x="380425" y="141665"/>
                    <a:pt x="368629" y="170144"/>
                    <a:pt x="347630" y="191143"/>
                  </a:cubicBezTo>
                  <a:cubicBezTo>
                    <a:pt x="326632" y="212141"/>
                    <a:pt x="298153" y="223938"/>
                    <a:pt x="268457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2DCD8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0425" cy="262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pc="-94">
                  <a:solidFill>
                    <a:srgbClr val="2DCD8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FALL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73241" y="8483103"/>
            <a:ext cx="2417460" cy="775197"/>
            <a:chOff x="0" y="0"/>
            <a:chExt cx="698352" cy="2239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8352" cy="223938"/>
            </a:xfrm>
            <a:custGeom>
              <a:avLst/>
              <a:gdLst/>
              <a:ahLst/>
              <a:cxnLst/>
              <a:rect r="r" b="b" t="t" l="l"/>
              <a:pathLst>
                <a:path h="223938" w="698352">
                  <a:moveTo>
                    <a:pt x="111969" y="0"/>
                  </a:moveTo>
                  <a:lnTo>
                    <a:pt x="586383" y="0"/>
                  </a:lnTo>
                  <a:cubicBezTo>
                    <a:pt x="648221" y="0"/>
                    <a:pt x="698352" y="50130"/>
                    <a:pt x="698352" y="111969"/>
                  </a:cubicBezTo>
                  <a:lnTo>
                    <a:pt x="698352" y="111969"/>
                  </a:lnTo>
                  <a:cubicBezTo>
                    <a:pt x="698352" y="141665"/>
                    <a:pt x="686555" y="170144"/>
                    <a:pt x="665557" y="191143"/>
                  </a:cubicBezTo>
                  <a:cubicBezTo>
                    <a:pt x="644558" y="212141"/>
                    <a:pt x="616079" y="223938"/>
                    <a:pt x="586383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8352" cy="262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pc="-94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6430" y="-4546171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94213" y="-1425495"/>
            <a:ext cx="11733829" cy="11712495"/>
          </a:xfrm>
          <a:custGeom>
            <a:avLst/>
            <a:gdLst/>
            <a:ahLst/>
            <a:cxnLst/>
            <a:rect r="r" b="b" t="t" l="l"/>
            <a:pathLst>
              <a:path h="11712495" w="11733829">
                <a:moveTo>
                  <a:pt x="0" y="0"/>
                </a:moveTo>
                <a:lnTo>
                  <a:pt x="11733829" y="0"/>
                </a:lnTo>
                <a:lnTo>
                  <a:pt x="11733829" y="11712495"/>
                </a:lnTo>
                <a:lnTo>
                  <a:pt x="0" y="1171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39980" y="6484586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61526" y="1596533"/>
            <a:ext cx="2060827" cy="2068349"/>
          </a:xfrm>
          <a:custGeom>
            <a:avLst/>
            <a:gdLst/>
            <a:ahLst/>
            <a:cxnLst/>
            <a:rect r="r" b="b" t="t" l="l"/>
            <a:pathLst>
              <a:path h="2068349" w="2060827">
                <a:moveTo>
                  <a:pt x="0" y="0"/>
                </a:moveTo>
                <a:lnTo>
                  <a:pt x="2060827" y="0"/>
                </a:lnTo>
                <a:lnTo>
                  <a:pt x="2060827" y="2068348"/>
                </a:lnTo>
                <a:lnTo>
                  <a:pt x="0" y="2068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0227" y="3722031"/>
            <a:ext cx="10321378" cy="106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6"/>
              </a:lnSpc>
            </a:pPr>
            <a:r>
              <a:rPr lang="en-US" sz="6876" b="true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BANK OF PATAGONIA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4350" y="2205356"/>
            <a:ext cx="6713549" cy="167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92"/>
              </a:lnSpc>
            </a:pPr>
            <a:r>
              <a:rPr lang="en-US" sz="10800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WHAT 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0227" y="5255960"/>
            <a:ext cx="9997124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The Bank of Patagonia helps clients manage their money. Users can track accounts, make transactions, invest in financial products, and see their portfolio performance, including returns and risk levels.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644050" y="10159685"/>
            <a:ext cx="1028700" cy="127315"/>
            <a:chOff x="0" y="0"/>
            <a:chExt cx="812800" cy="100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706119"/>
            <a:ext cx="1028700" cy="127315"/>
            <a:chOff x="0" y="0"/>
            <a:chExt cx="812800" cy="1005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1183" y="0"/>
            <a:ext cx="13116662" cy="10287000"/>
          </a:xfrm>
          <a:custGeom>
            <a:avLst/>
            <a:gdLst/>
            <a:ahLst/>
            <a:cxnLst/>
            <a:rect r="r" b="b" t="t" l="l"/>
            <a:pathLst>
              <a:path h="10287000" w="13116662">
                <a:moveTo>
                  <a:pt x="0" y="0"/>
                </a:moveTo>
                <a:lnTo>
                  <a:pt x="13116662" y="0"/>
                </a:lnTo>
                <a:lnTo>
                  <a:pt x="131166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73" t="0" r="-5898" b="-28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51183" y="-783088"/>
            <a:ext cx="11998125" cy="11998125"/>
          </a:xfrm>
          <a:custGeom>
            <a:avLst/>
            <a:gdLst/>
            <a:ahLst/>
            <a:cxnLst/>
            <a:rect r="r" b="b" t="t" l="l"/>
            <a:pathLst>
              <a:path h="11998125" w="11998125">
                <a:moveTo>
                  <a:pt x="0" y="0"/>
                </a:moveTo>
                <a:lnTo>
                  <a:pt x="11998125" y="0"/>
                </a:lnTo>
                <a:lnTo>
                  <a:pt x="11998125" y="11998125"/>
                </a:lnTo>
                <a:lnTo>
                  <a:pt x="0" y="11998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11576" y="3929401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36088" y="3350070"/>
            <a:ext cx="7701059" cy="1992283"/>
            <a:chOff x="0" y="0"/>
            <a:chExt cx="1637105" cy="423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7105" cy="423523"/>
            </a:xfrm>
            <a:custGeom>
              <a:avLst/>
              <a:gdLst/>
              <a:ahLst/>
              <a:cxnLst/>
              <a:rect r="r" b="b" t="t" l="l"/>
              <a:pathLst>
                <a:path h="423523" w="1637105">
                  <a:moveTo>
                    <a:pt x="51271" y="0"/>
                  </a:moveTo>
                  <a:lnTo>
                    <a:pt x="1585835" y="0"/>
                  </a:lnTo>
                  <a:cubicBezTo>
                    <a:pt x="1599433" y="0"/>
                    <a:pt x="1612473" y="5402"/>
                    <a:pt x="1622088" y="15017"/>
                  </a:cubicBezTo>
                  <a:cubicBezTo>
                    <a:pt x="1631704" y="24632"/>
                    <a:pt x="1637105" y="37673"/>
                    <a:pt x="1637105" y="51271"/>
                  </a:cubicBezTo>
                  <a:lnTo>
                    <a:pt x="1637105" y="372252"/>
                  </a:lnTo>
                  <a:cubicBezTo>
                    <a:pt x="1637105" y="385850"/>
                    <a:pt x="1631704" y="398891"/>
                    <a:pt x="1622088" y="408506"/>
                  </a:cubicBezTo>
                  <a:cubicBezTo>
                    <a:pt x="1612473" y="418121"/>
                    <a:pt x="1599433" y="423523"/>
                    <a:pt x="1585835" y="423523"/>
                  </a:cubicBezTo>
                  <a:lnTo>
                    <a:pt x="51271" y="423523"/>
                  </a:lnTo>
                  <a:cubicBezTo>
                    <a:pt x="37673" y="423523"/>
                    <a:pt x="24632" y="418121"/>
                    <a:pt x="15017" y="408506"/>
                  </a:cubicBezTo>
                  <a:cubicBezTo>
                    <a:pt x="5402" y="398891"/>
                    <a:pt x="0" y="385850"/>
                    <a:pt x="0" y="372252"/>
                  </a:cubicBezTo>
                  <a:lnTo>
                    <a:pt x="0" y="51271"/>
                  </a:lnTo>
                  <a:cubicBezTo>
                    <a:pt x="0" y="37673"/>
                    <a:pt x="5402" y="24632"/>
                    <a:pt x="15017" y="15017"/>
                  </a:cubicBezTo>
                  <a:cubicBezTo>
                    <a:pt x="24632" y="5402"/>
                    <a:pt x="37673" y="0"/>
                    <a:pt x="5127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7105" cy="461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50852" y="5682215"/>
            <a:ext cx="7701059" cy="2144311"/>
            <a:chOff x="0" y="0"/>
            <a:chExt cx="1637105" cy="4558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7105" cy="455842"/>
            </a:xfrm>
            <a:custGeom>
              <a:avLst/>
              <a:gdLst/>
              <a:ahLst/>
              <a:cxnLst/>
              <a:rect r="r" b="b" t="t" l="l"/>
              <a:pathLst>
                <a:path h="455842" w="1637105">
                  <a:moveTo>
                    <a:pt x="51271" y="0"/>
                  </a:moveTo>
                  <a:lnTo>
                    <a:pt x="1585835" y="0"/>
                  </a:lnTo>
                  <a:cubicBezTo>
                    <a:pt x="1599433" y="0"/>
                    <a:pt x="1612473" y="5402"/>
                    <a:pt x="1622088" y="15017"/>
                  </a:cubicBezTo>
                  <a:cubicBezTo>
                    <a:pt x="1631704" y="24632"/>
                    <a:pt x="1637105" y="37673"/>
                    <a:pt x="1637105" y="51271"/>
                  </a:cubicBezTo>
                  <a:lnTo>
                    <a:pt x="1637105" y="404571"/>
                  </a:lnTo>
                  <a:cubicBezTo>
                    <a:pt x="1637105" y="418169"/>
                    <a:pt x="1631704" y="431210"/>
                    <a:pt x="1622088" y="440825"/>
                  </a:cubicBezTo>
                  <a:cubicBezTo>
                    <a:pt x="1612473" y="450440"/>
                    <a:pt x="1599433" y="455842"/>
                    <a:pt x="1585835" y="455842"/>
                  </a:cubicBezTo>
                  <a:lnTo>
                    <a:pt x="51271" y="455842"/>
                  </a:lnTo>
                  <a:cubicBezTo>
                    <a:pt x="37673" y="455842"/>
                    <a:pt x="24632" y="450440"/>
                    <a:pt x="15017" y="440825"/>
                  </a:cubicBezTo>
                  <a:cubicBezTo>
                    <a:pt x="5402" y="431210"/>
                    <a:pt x="0" y="418169"/>
                    <a:pt x="0" y="404571"/>
                  </a:cubicBezTo>
                  <a:lnTo>
                    <a:pt x="0" y="51271"/>
                  </a:lnTo>
                  <a:cubicBezTo>
                    <a:pt x="0" y="37673"/>
                    <a:pt x="5402" y="24632"/>
                    <a:pt x="15017" y="15017"/>
                  </a:cubicBezTo>
                  <a:cubicBezTo>
                    <a:pt x="24632" y="5402"/>
                    <a:pt x="37673" y="0"/>
                    <a:pt x="5127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37105" cy="493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25746" y="4082831"/>
            <a:ext cx="7321744" cy="95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8"/>
              </a:lnSpc>
            </a:pPr>
            <a:r>
              <a:rPr lang="en-US" sz="27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👤 Stores each customer’s personal details like name, email, and address.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08223" y="3600572"/>
            <a:ext cx="3965634" cy="44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b="true" sz="2849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CLIENT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03801" y="5983981"/>
            <a:ext cx="3965634" cy="44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b="true" sz="2849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CLIENT_TYPE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0720" y="990600"/>
            <a:ext cx="17827280" cy="111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5"/>
              </a:lnSpc>
            </a:pPr>
            <a:r>
              <a:rPr lang="en-US" sz="7101" b="true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CUSTOMER &amp; ORGANIZATION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67760" y="6464806"/>
            <a:ext cx="6667243" cy="95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</a:pPr>
            <a:r>
              <a:rPr lang="en-US" sz="27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🏷️ Classifies clients into categories like individual, business, or VIP.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2149009" y="5784920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172633" y="9698488"/>
            <a:ext cx="1028700" cy="127315"/>
            <a:chOff x="0" y="0"/>
            <a:chExt cx="812800" cy="1005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1183" y="0"/>
            <a:ext cx="13116662" cy="10287000"/>
          </a:xfrm>
          <a:custGeom>
            <a:avLst/>
            <a:gdLst/>
            <a:ahLst/>
            <a:cxnLst/>
            <a:rect r="r" b="b" t="t" l="l"/>
            <a:pathLst>
              <a:path h="10287000" w="13116662">
                <a:moveTo>
                  <a:pt x="0" y="0"/>
                </a:moveTo>
                <a:lnTo>
                  <a:pt x="13116662" y="0"/>
                </a:lnTo>
                <a:lnTo>
                  <a:pt x="131166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73" t="0" r="-5898" b="-28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51183" y="-783088"/>
            <a:ext cx="11998125" cy="11998125"/>
          </a:xfrm>
          <a:custGeom>
            <a:avLst/>
            <a:gdLst/>
            <a:ahLst/>
            <a:cxnLst/>
            <a:rect r="r" b="b" t="t" l="l"/>
            <a:pathLst>
              <a:path h="11998125" w="11998125">
                <a:moveTo>
                  <a:pt x="0" y="0"/>
                </a:moveTo>
                <a:lnTo>
                  <a:pt x="11998125" y="0"/>
                </a:lnTo>
                <a:lnTo>
                  <a:pt x="11998125" y="11998125"/>
                </a:lnTo>
                <a:lnTo>
                  <a:pt x="0" y="11998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3558" y="1166406"/>
            <a:ext cx="13206639" cy="130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8340" b="true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BANKING OPERATIONS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149009" y="5784920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11576" y="3929401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72633" y="9698488"/>
            <a:ext cx="1028700" cy="127315"/>
            <a:chOff x="0" y="0"/>
            <a:chExt cx="812800" cy="1005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7532" y="3114855"/>
            <a:ext cx="8080809" cy="2048500"/>
            <a:chOff x="0" y="0"/>
            <a:chExt cx="1641137" cy="4160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1137" cy="416031"/>
            </a:xfrm>
            <a:custGeom>
              <a:avLst/>
              <a:gdLst/>
              <a:ahLst/>
              <a:cxnLst/>
              <a:rect r="r" b="b" t="t" l="l"/>
              <a:pathLst>
                <a:path h="416031" w="1641137">
                  <a:moveTo>
                    <a:pt x="48861" y="0"/>
                  </a:moveTo>
                  <a:lnTo>
                    <a:pt x="1592276" y="0"/>
                  </a:lnTo>
                  <a:cubicBezTo>
                    <a:pt x="1619261" y="0"/>
                    <a:pt x="1641137" y="21876"/>
                    <a:pt x="1641137" y="48861"/>
                  </a:cubicBezTo>
                  <a:lnTo>
                    <a:pt x="1641137" y="367170"/>
                  </a:lnTo>
                  <a:cubicBezTo>
                    <a:pt x="1641137" y="394155"/>
                    <a:pt x="1619261" y="416031"/>
                    <a:pt x="1592276" y="416031"/>
                  </a:cubicBezTo>
                  <a:lnTo>
                    <a:pt x="48861" y="416031"/>
                  </a:lnTo>
                  <a:cubicBezTo>
                    <a:pt x="21876" y="416031"/>
                    <a:pt x="0" y="394155"/>
                    <a:pt x="0" y="367170"/>
                  </a:cubicBezTo>
                  <a:lnTo>
                    <a:pt x="0" y="48861"/>
                  </a:lnTo>
                  <a:cubicBezTo>
                    <a:pt x="0" y="21876"/>
                    <a:pt x="21876" y="0"/>
                    <a:pt x="4886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1137" cy="4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7532" y="5812062"/>
            <a:ext cx="8080809" cy="1972504"/>
            <a:chOff x="0" y="0"/>
            <a:chExt cx="1641137" cy="4005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1137" cy="400597"/>
            </a:xfrm>
            <a:custGeom>
              <a:avLst/>
              <a:gdLst/>
              <a:ahLst/>
              <a:cxnLst/>
              <a:rect r="r" b="b" t="t" l="l"/>
              <a:pathLst>
                <a:path h="400597" w="1641137">
                  <a:moveTo>
                    <a:pt x="48861" y="0"/>
                  </a:moveTo>
                  <a:lnTo>
                    <a:pt x="1592276" y="0"/>
                  </a:lnTo>
                  <a:cubicBezTo>
                    <a:pt x="1619261" y="0"/>
                    <a:pt x="1641137" y="21876"/>
                    <a:pt x="1641137" y="48861"/>
                  </a:cubicBezTo>
                  <a:lnTo>
                    <a:pt x="1641137" y="351736"/>
                  </a:lnTo>
                  <a:cubicBezTo>
                    <a:pt x="1641137" y="378721"/>
                    <a:pt x="1619261" y="400597"/>
                    <a:pt x="1592276" y="400597"/>
                  </a:cubicBezTo>
                  <a:lnTo>
                    <a:pt x="48861" y="400597"/>
                  </a:lnTo>
                  <a:cubicBezTo>
                    <a:pt x="21876" y="400597"/>
                    <a:pt x="0" y="378721"/>
                    <a:pt x="0" y="351736"/>
                  </a:cubicBezTo>
                  <a:lnTo>
                    <a:pt x="0" y="48861"/>
                  </a:lnTo>
                  <a:cubicBezTo>
                    <a:pt x="0" y="21876"/>
                    <a:pt x="21876" y="0"/>
                    <a:pt x="4886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41137" cy="438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58476" y="5812062"/>
            <a:ext cx="7921992" cy="1972504"/>
            <a:chOff x="0" y="0"/>
            <a:chExt cx="1608883" cy="4005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08883" cy="400597"/>
            </a:xfrm>
            <a:custGeom>
              <a:avLst/>
              <a:gdLst/>
              <a:ahLst/>
              <a:cxnLst/>
              <a:rect r="r" b="b" t="t" l="l"/>
              <a:pathLst>
                <a:path h="400597" w="1608883">
                  <a:moveTo>
                    <a:pt x="49841" y="0"/>
                  </a:moveTo>
                  <a:lnTo>
                    <a:pt x="1559042" y="0"/>
                  </a:lnTo>
                  <a:cubicBezTo>
                    <a:pt x="1572261" y="0"/>
                    <a:pt x="1584938" y="5251"/>
                    <a:pt x="1594285" y="14598"/>
                  </a:cubicBezTo>
                  <a:cubicBezTo>
                    <a:pt x="1603632" y="23945"/>
                    <a:pt x="1608883" y="36622"/>
                    <a:pt x="1608883" y="49841"/>
                  </a:cubicBezTo>
                  <a:lnTo>
                    <a:pt x="1608883" y="350756"/>
                  </a:lnTo>
                  <a:cubicBezTo>
                    <a:pt x="1608883" y="363975"/>
                    <a:pt x="1603632" y="376652"/>
                    <a:pt x="1594285" y="385999"/>
                  </a:cubicBezTo>
                  <a:cubicBezTo>
                    <a:pt x="1584938" y="395346"/>
                    <a:pt x="1572261" y="400597"/>
                    <a:pt x="1559042" y="400597"/>
                  </a:cubicBezTo>
                  <a:lnTo>
                    <a:pt x="49841" y="400597"/>
                  </a:lnTo>
                  <a:cubicBezTo>
                    <a:pt x="36622" y="400597"/>
                    <a:pt x="23945" y="395346"/>
                    <a:pt x="14598" y="385999"/>
                  </a:cubicBezTo>
                  <a:cubicBezTo>
                    <a:pt x="5251" y="376652"/>
                    <a:pt x="0" y="363975"/>
                    <a:pt x="0" y="350756"/>
                  </a:cubicBezTo>
                  <a:lnTo>
                    <a:pt x="0" y="49841"/>
                  </a:lnTo>
                  <a:cubicBezTo>
                    <a:pt x="0" y="36622"/>
                    <a:pt x="5251" y="23945"/>
                    <a:pt x="14598" y="14598"/>
                  </a:cubicBezTo>
                  <a:cubicBezTo>
                    <a:pt x="23945" y="5251"/>
                    <a:pt x="36622" y="0"/>
                    <a:pt x="4984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08883" cy="438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69928" y="3872251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💼 Stores each customer’s bank account details and current balance.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973" y="3344479"/>
            <a:ext cx="6850851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ACCOUNT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9188" y="6001276"/>
            <a:ext cx="7157496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ACCOUNT_TYPE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17130" y="6001276"/>
            <a:ext cx="7004685" cy="92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TRANSACTION_TYPE</a:t>
            </a:r>
          </a:p>
          <a:p>
            <a:pPr algn="ctr">
              <a:lnSpc>
                <a:spcPts val="3698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9758476" y="3114761"/>
            <a:ext cx="7921992" cy="2048593"/>
            <a:chOff x="0" y="0"/>
            <a:chExt cx="1608883" cy="416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08883" cy="416050"/>
            </a:xfrm>
            <a:custGeom>
              <a:avLst/>
              <a:gdLst/>
              <a:ahLst/>
              <a:cxnLst/>
              <a:rect r="r" b="b" t="t" l="l"/>
              <a:pathLst>
                <a:path h="416050" w="1608883">
                  <a:moveTo>
                    <a:pt x="49841" y="0"/>
                  </a:moveTo>
                  <a:lnTo>
                    <a:pt x="1559042" y="0"/>
                  </a:lnTo>
                  <a:cubicBezTo>
                    <a:pt x="1572261" y="0"/>
                    <a:pt x="1584938" y="5251"/>
                    <a:pt x="1594285" y="14598"/>
                  </a:cubicBezTo>
                  <a:cubicBezTo>
                    <a:pt x="1603632" y="23945"/>
                    <a:pt x="1608883" y="36622"/>
                    <a:pt x="1608883" y="49841"/>
                  </a:cubicBezTo>
                  <a:lnTo>
                    <a:pt x="1608883" y="366209"/>
                  </a:lnTo>
                  <a:cubicBezTo>
                    <a:pt x="1608883" y="379428"/>
                    <a:pt x="1603632" y="392105"/>
                    <a:pt x="1594285" y="401452"/>
                  </a:cubicBezTo>
                  <a:cubicBezTo>
                    <a:pt x="1584938" y="410799"/>
                    <a:pt x="1572261" y="416050"/>
                    <a:pt x="1559042" y="416050"/>
                  </a:cubicBezTo>
                  <a:lnTo>
                    <a:pt x="49841" y="416050"/>
                  </a:lnTo>
                  <a:cubicBezTo>
                    <a:pt x="36622" y="416050"/>
                    <a:pt x="23945" y="410799"/>
                    <a:pt x="14598" y="401452"/>
                  </a:cubicBezTo>
                  <a:cubicBezTo>
                    <a:pt x="5251" y="392105"/>
                    <a:pt x="0" y="379428"/>
                    <a:pt x="0" y="366209"/>
                  </a:cubicBezTo>
                  <a:lnTo>
                    <a:pt x="0" y="49841"/>
                  </a:lnTo>
                  <a:cubicBezTo>
                    <a:pt x="0" y="36622"/>
                    <a:pt x="5251" y="23945"/>
                    <a:pt x="14598" y="14598"/>
                  </a:cubicBezTo>
                  <a:cubicBezTo>
                    <a:pt x="23945" y="5251"/>
                    <a:pt x="36622" y="0"/>
                    <a:pt x="4984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08883" cy="45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111061" y="3344479"/>
            <a:ext cx="7004685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TRANSACTION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5390" y="6529049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🏷️ Defines account categories like savings, checking, or business.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41464" y="3872251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💰 Records every deposit, withdrawal, or transfer for accounts.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41464" y="6529049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📋 Classifies transactions to keep records consistent and organized.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49009" y="5784920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11576" y="3929401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72633" y="9698488"/>
            <a:ext cx="1028700" cy="127315"/>
            <a:chOff x="0" y="0"/>
            <a:chExt cx="812800" cy="100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532" y="3114855"/>
            <a:ext cx="8080809" cy="2048500"/>
            <a:chOff x="0" y="0"/>
            <a:chExt cx="1641137" cy="4160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1137" cy="416031"/>
            </a:xfrm>
            <a:custGeom>
              <a:avLst/>
              <a:gdLst/>
              <a:ahLst/>
              <a:cxnLst/>
              <a:rect r="r" b="b" t="t" l="l"/>
              <a:pathLst>
                <a:path h="416031" w="1641137">
                  <a:moveTo>
                    <a:pt x="48861" y="0"/>
                  </a:moveTo>
                  <a:lnTo>
                    <a:pt x="1592276" y="0"/>
                  </a:lnTo>
                  <a:cubicBezTo>
                    <a:pt x="1619261" y="0"/>
                    <a:pt x="1641137" y="21876"/>
                    <a:pt x="1641137" y="48861"/>
                  </a:cubicBezTo>
                  <a:lnTo>
                    <a:pt x="1641137" y="367170"/>
                  </a:lnTo>
                  <a:cubicBezTo>
                    <a:pt x="1641137" y="394155"/>
                    <a:pt x="1619261" y="416031"/>
                    <a:pt x="1592276" y="416031"/>
                  </a:cubicBezTo>
                  <a:lnTo>
                    <a:pt x="48861" y="416031"/>
                  </a:lnTo>
                  <a:cubicBezTo>
                    <a:pt x="21876" y="416031"/>
                    <a:pt x="0" y="394155"/>
                    <a:pt x="0" y="367170"/>
                  </a:cubicBezTo>
                  <a:lnTo>
                    <a:pt x="0" y="48861"/>
                  </a:lnTo>
                  <a:cubicBezTo>
                    <a:pt x="0" y="21876"/>
                    <a:pt x="21876" y="0"/>
                    <a:pt x="4886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41137" cy="4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7532" y="5812062"/>
            <a:ext cx="8080809" cy="1972504"/>
            <a:chOff x="0" y="0"/>
            <a:chExt cx="1641137" cy="4005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1137" cy="400597"/>
            </a:xfrm>
            <a:custGeom>
              <a:avLst/>
              <a:gdLst/>
              <a:ahLst/>
              <a:cxnLst/>
              <a:rect r="r" b="b" t="t" l="l"/>
              <a:pathLst>
                <a:path h="400597" w="1641137">
                  <a:moveTo>
                    <a:pt x="48861" y="0"/>
                  </a:moveTo>
                  <a:lnTo>
                    <a:pt x="1592276" y="0"/>
                  </a:lnTo>
                  <a:cubicBezTo>
                    <a:pt x="1619261" y="0"/>
                    <a:pt x="1641137" y="21876"/>
                    <a:pt x="1641137" y="48861"/>
                  </a:cubicBezTo>
                  <a:lnTo>
                    <a:pt x="1641137" y="351736"/>
                  </a:lnTo>
                  <a:cubicBezTo>
                    <a:pt x="1641137" y="378721"/>
                    <a:pt x="1619261" y="400597"/>
                    <a:pt x="1592276" y="400597"/>
                  </a:cubicBezTo>
                  <a:lnTo>
                    <a:pt x="48861" y="400597"/>
                  </a:lnTo>
                  <a:cubicBezTo>
                    <a:pt x="21876" y="400597"/>
                    <a:pt x="0" y="378721"/>
                    <a:pt x="0" y="351736"/>
                  </a:cubicBezTo>
                  <a:lnTo>
                    <a:pt x="0" y="48861"/>
                  </a:lnTo>
                  <a:cubicBezTo>
                    <a:pt x="0" y="21876"/>
                    <a:pt x="21876" y="0"/>
                    <a:pt x="4886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1137" cy="438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751183" y="0"/>
            <a:ext cx="13116662" cy="10287000"/>
          </a:xfrm>
          <a:custGeom>
            <a:avLst/>
            <a:gdLst/>
            <a:ahLst/>
            <a:cxnLst/>
            <a:rect r="r" b="b" t="t" l="l"/>
            <a:pathLst>
              <a:path h="10287000" w="13116662">
                <a:moveTo>
                  <a:pt x="0" y="0"/>
                </a:moveTo>
                <a:lnTo>
                  <a:pt x="13116662" y="0"/>
                </a:lnTo>
                <a:lnTo>
                  <a:pt x="131166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073" t="0" r="-5898" b="-28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8751183" y="-783088"/>
            <a:ext cx="11998125" cy="11998125"/>
          </a:xfrm>
          <a:custGeom>
            <a:avLst/>
            <a:gdLst/>
            <a:ahLst/>
            <a:cxnLst/>
            <a:rect r="r" b="b" t="t" l="l"/>
            <a:pathLst>
              <a:path h="11998125" w="11998125">
                <a:moveTo>
                  <a:pt x="0" y="0"/>
                </a:moveTo>
                <a:lnTo>
                  <a:pt x="11998125" y="0"/>
                </a:lnTo>
                <a:lnTo>
                  <a:pt x="11998125" y="11998125"/>
                </a:lnTo>
                <a:lnTo>
                  <a:pt x="0" y="11998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758476" y="5812062"/>
            <a:ext cx="7921992" cy="1972504"/>
            <a:chOff x="0" y="0"/>
            <a:chExt cx="1608883" cy="4005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8883" cy="400597"/>
            </a:xfrm>
            <a:custGeom>
              <a:avLst/>
              <a:gdLst/>
              <a:ahLst/>
              <a:cxnLst/>
              <a:rect r="r" b="b" t="t" l="l"/>
              <a:pathLst>
                <a:path h="400597" w="1608883">
                  <a:moveTo>
                    <a:pt x="49841" y="0"/>
                  </a:moveTo>
                  <a:lnTo>
                    <a:pt x="1559042" y="0"/>
                  </a:lnTo>
                  <a:cubicBezTo>
                    <a:pt x="1572261" y="0"/>
                    <a:pt x="1584938" y="5251"/>
                    <a:pt x="1594285" y="14598"/>
                  </a:cubicBezTo>
                  <a:cubicBezTo>
                    <a:pt x="1603632" y="23945"/>
                    <a:pt x="1608883" y="36622"/>
                    <a:pt x="1608883" y="49841"/>
                  </a:cubicBezTo>
                  <a:lnTo>
                    <a:pt x="1608883" y="350756"/>
                  </a:lnTo>
                  <a:cubicBezTo>
                    <a:pt x="1608883" y="363975"/>
                    <a:pt x="1603632" y="376652"/>
                    <a:pt x="1594285" y="385999"/>
                  </a:cubicBezTo>
                  <a:cubicBezTo>
                    <a:pt x="1584938" y="395346"/>
                    <a:pt x="1572261" y="400597"/>
                    <a:pt x="1559042" y="400597"/>
                  </a:cubicBezTo>
                  <a:lnTo>
                    <a:pt x="49841" y="400597"/>
                  </a:lnTo>
                  <a:cubicBezTo>
                    <a:pt x="36622" y="400597"/>
                    <a:pt x="23945" y="395346"/>
                    <a:pt x="14598" y="385999"/>
                  </a:cubicBezTo>
                  <a:cubicBezTo>
                    <a:pt x="5251" y="376652"/>
                    <a:pt x="0" y="363975"/>
                    <a:pt x="0" y="350756"/>
                  </a:cubicBezTo>
                  <a:lnTo>
                    <a:pt x="0" y="49841"/>
                  </a:lnTo>
                  <a:cubicBezTo>
                    <a:pt x="0" y="36622"/>
                    <a:pt x="5251" y="23945"/>
                    <a:pt x="14598" y="14598"/>
                  </a:cubicBezTo>
                  <a:cubicBezTo>
                    <a:pt x="23945" y="5251"/>
                    <a:pt x="36622" y="0"/>
                    <a:pt x="4984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08883" cy="438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06129" y="3850217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💼 Stores each investment product offered. Tracks type and risk profile.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2511" y="3322444"/>
            <a:ext cx="6850851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FINANCIAL_PRODUCT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9188" y="6001276"/>
            <a:ext cx="7157496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FINANCIAL_PRODUCT_TYPE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7130" y="6001276"/>
            <a:ext cx="7004685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RISK_PROFILE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0222" y="1146176"/>
            <a:ext cx="16847557" cy="101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1"/>
              </a:lnSpc>
            </a:pPr>
            <a:r>
              <a:rPr lang="en-US" sz="6501" b="true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INVESTMENT &amp; FINANCIAL PRODUCTS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758476" y="3114761"/>
            <a:ext cx="7921992" cy="2048593"/>
            <a:chOff x="0" y="0"/>
            <a:chExt cx="1608883" cy="416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08883" cy="416050"/>
            </a:xfrm>
            <a:custGeom>
              <a:avLst/>
              <a:gdLst/>
              <a:ahLst/>
              <a:cxnLst/>
              <a:rect r="r" b="b" t="t" l="l"/>
              <a:pathLst>
                <a:path h="416050" w="1608883">
                  <a:moveTo>
                    <a:pt x="49841" y="0"/>
                  </a:moveTo>
                  <a:lnTo>
                    <a:pt x="1559042" y="0"/>
                  </a:lnTo>
                  <a:cubicBezTo>
                    <a:pt x="1572261" y="0"/>
                    <a:pt x="1584938" y="5251"/>
                    <a:pt x="1594285" y="14598"/>
                  </a:cubicBezTo>
                  <a:cubicBezTo>
                    <a:pt x="1603632" y="23945"/>
                    <a:pt x="1608883" y="36622"/>
                    <a:pt x="1608883" y="49841"/>
                  </a:cubicBezTo>
                  <a:lnTo>
                    <a:pt x="1608883" y="366209"/>
                  </a:lnTo>
                  <a:cubicBezTo>
                    <a:pt x="1608883" y="379428"/>
                    <a:pt x="1603632" y="392105"/>
                    <a:pt x="1594285" y="401452"/>
                  </a:cubicBezTo>
                  <a:cubicBezTo>
                    <a:pt x="1584938" y="410799"/>
                    <a:pt x="1572261" y="416050"/>
                    <a:pt x="1559042" y="416050"/>
                  </a:cubicBezTo>
                  <a:lnTo>
                    <a:pt x="49841" y="416050"/>
                  </a:lnTo>
                  <a:cubicBezTo>
                    <a:pt x="36622" y="416050"/>
                    <a:pt x="23945" y="410799"/>
                    <a:pt x="14598" y="401452"/>
                  </a:cubicBezTo>
                  <a:cubicBezTo>
                    <a:pt x="5251" y="392105"/>
                    <a:pt x="0" y="379428"/>
                    <a:pt x="0" y="366209"/>
                  </a:cubicBezTo>
                  <a:lnTo>
                    <a:pt x="0" y="49841"/>
                  </a:lnTo>
                  <a:cubicBezTo>
                    <a:pt x="0" y="36622"/>
                    <a:pt x="5251" y="23945"/>
                    <a:pt x="14598" y="14598"/>
                  </a:cubicBezTo>
                  <a:cubicBezTo>
                    <a:pt x="23945" y="5251"/>
                    <a:pt x="36622" y="0"/>
                    <a:pt x="4984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08883" cy="45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111061" y="3322444"/>
            <a:ext cx="7004685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INVESTMENT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6129" y="6529049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📊 Classifies products into categories like stocks, bonds, or funds.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41464" y="3850217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💰 Tracks each client’s investment and performance in a product.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41464" y="6529049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 Defines risk level and expected return for products.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1183" y="0"/>
            <a:ext cx="13116662" cy="10287000"/>
          </a:xfrm>
          <a:custGeom>
            <a:avLst/>
            <a:gdLst/>
            <a:ahLst/>
            <a:cxnLst/>
            <a:rect r="r" b="b" t="t" l="l"/>
            <a:pathLst>
              <a:path h="10287000" w="13116662">
                <a:moveTo>
                  <a:pt x="0" y="0"/>
                </a:moveTo>
                <a:lnTo>
                  <a:pt x="13116662" y="0"/>
                </a:lnTo>
                <a:lnTo>
                  <a:pt x="131166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73" t="0" r="-5898" b="-28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751183" y="-783088"/>
            <a:ext cx="11998125" cy="11998125"/>
          </a:xfrm>
          <a:custGeom>
            <a:avLst/>
            <a:gdLst/>
            <a:ahLst/>
            <a:cxnLst/>
            <a:rect r="r" b="b" t="t" l="l"/>
            <a:pathLst>
              <a:path h="11998125" w="11998125">
                <a:moveTo>
                  <a:pt x="0" y="0"/>
                </a:moveTo>
                <a:lnTo>
                  <a:pt x="11998125" y="0"/>
                </a:lnTo>
                <a:lnTo>
                  <a:pt x="11998125" y="11998125"/>
                </a:lnTo>
                <a:lnTo>
                  <a:pt x="0" y="11998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8827" y="1413446"/>
            <a:ext cx="17965053" cy="106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3"/>
              </a:lnSpc>
            </a:pPr>
            <a:r>
              <a:rPr lang="en-US" sz="6801" b="true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PORTFOLIO &amp; WEALTH MANAGEMENT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149009" y="5784920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11576" y="3929401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72633" y="9698488"/>
            <a:ext cx="1028700" cy="127315"/>
            <a:chOff x="0" y="0"/>
            <a:chExt cx="812800" cy="1005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438830" y="4152077"/>
            <a:ext cx="5401382" cy="35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sz="2300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PAYMENT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91856" y="3366040"/>
            <a:ext cx="8080809" cy="2048500"/>
            <a:chOff x="0" y="0"/>
            <a:chExt cx="1641137" cy="416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1137" cy="416031"/>
            </a:xfrm>
            <a:custGeom>
              <a:avLst/>
              <a:gdLst/>
              <a:ahLst/>
              <a:cxnLst/>
              <a:rect r="r" b="b" t="t" l="l"/>
              <a:pathLst>
                <a:path h="416031" w="1641137">
                  <a:moveTo>
                    <a:pt x="48861" y="0"/>
                  </a:moveTo>
                  <a:lnTo>
                    <a:pt x="1592276" y="0"/>
                  </a:lnTo>
                  <a:cubicBezTo>
                    <a:pt x="1619261" y="0"/>
                    <a:pt x="1641137" y="21876"/>
                    <a:pt x="1641137" y="48861"/>
                  </a:cubicBezTo>
                  <a:lnTo>
                    <a:pt x="1641137" y="367170"/>
                  </a:lnTo>
                  <a:cubicBezTo>
                    <a:pt x="1641137" y="394155"/>
                    <a:pt x="1619261" y="416031"/>
                    <a:pt x="1592276" y="416031"/>
                  </a:cubicBezTo>
                  <a:lnTo>
                    <a:pt x="48861" y="416031"/>
                  </a:lnTo>
                  <a:cubicBezTo>
                    <a:pt x="21876" y="416031"/>
                    <a:pt x="0" y="394155"/>
                    <a:pt x="0" y="367170"/>
                  </a:cubicBezTo>
                  <a:lnTo>
                    <a:pt x="0" y="48861"/>
                  </a:lnTo>
                  <a:cubicBezTo>
                    <a:pt x="0" y="21876"/>
                    <a:pt x="21876" y="0"/>
                    <a:pt x="4886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41137" cy="4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477731" y="4104452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📂 Stores a client’s overall investment summary, including total invested and returns.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18575" y="3573630"/>
            <a:ext cx="6850851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PORTFOLIO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62308" y="6602629"/>
            <a:ext cx="5401382" cy="35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sz="2300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PAYMENT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115335" y="5816592"/>
            <a:ext cx="8080809" cy="2048500"/>
            <a:chOff x="0" y="0"/>
            <a:chExt cx="1641137" cy="4160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1137" cy="416031"/>
            </a:xfrm>
            <a:custGeom>
              <a:avLst/>
              <a:gdLst/>
              <a:ahLst/>
              <a:cxnLst/>
              <a:rect r="r" b="b" t="t" l="l"/>
              <a:pathLst>
                <a:path h="416031" w="1641137">
                  <a:moveTo>
                    <a:pt x="48861" y="0"/>
                  </a:moveTo>
                  <a:lnTo>
                    <a:pt x="1592276" y="0"/>
                  </a:lnTo>
                  <a:cubicBezTo>
                    <a:pt x="1619261" y="0"/>
                    <a:pt x="1641137" y="21876"/>
                    <a:pt x="1641137" y="48861"/>
                  </a:cubicBezTo>
                  <a:lnTo>
                    <a:pt x="1641137" y="367170"/>
                  </a:lnTo>
                  <a:cubicBezTo>
                    <a:pt x="1641137" y="394155"/>
                    <a:pt x="1619261" y="416031"/>
                    <a:pt x="1592276" y="416031"/>
                  </a:cubicBezTo>
                  <a:lnTo>
                    <a:pt x="48861" y="416031"/>
                  </a:lnTo>
                  <a:cubicBezTo>
                    <a:pt x="21876" y="416031"/>
                    <a:pt x="0" y="394155"/>
                    <a:pt x="0" y="367170"/>
                  </a:cubicBezTo>
                  <a:lnTo>
                    <a:pt x="0" y="48861"/>
                  </a:lnTo>
                  <a:cubicBezTo>
                    <a:pt x="0" y="21876"/>
                    <a:pt x="21876" y="0"/>
                    <a:pt x="48861" y="0"/>
                  </a:cubicBez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41137" cy="4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477731" y="6555004"/>
            <a:ext cx="7356017" cy="90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📌 Tracks each investment within a portfolio and its allocation percentage.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30314" y="6023766"/>
            <a:ext cx="6850851" cy="46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</a:pPr>
            <a:r>
              <a:rPr lang="en-US" b="true" sz="298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PORTFOLIO_INVESTMENT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27957" y="-3851470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4" y="0"/>
                </a:lnTo>
                <a:lnTo>
                  <a:pt x="8513314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50061" y="6776926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644050" y="10159685"/>
            <a:ext cx="1028700" cy="127315"/>
            <a:chOff x="0" y="0"/>
            <a:chExt cx="812800" cy="100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06119"/>
            <a:ext cx="1028700" cy="127315"/>
            <a:chOff x="0" y="0"/>
            <a:chExt cx="812800" cy="1005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3657600" y="868290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1"/>
                </a:lnTo>
                <a:lnTo>
                  <a:pt x="0" y="4083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040029" y="5175088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7315200" y="4083212"/>
                </a:moveTo>
                <a:lnTo>
                  <a:pt x="0" y="4083212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83212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79370" y="2571857"/>
            <a:ext cx="12881187" cy="7715143"/>
          </a:xfrm>
          <a:custGeom>
            <a:avLst/>
            <a:gdLst/>
            <a:ahLst/>
            <a:cxnLst/>
            <a:rect r="r" b="b" t="t" l="l"/>
            <a:pathLst>
              <a:path h="7715143" w="12881187">
                <a:moveTo>
                  <a:pt x="0" y="0"/>
                </a:moveTo>
                <a:lnTo>
                  <a:pt x="12881187" y="0"/>
                </a:lnTo>
                <a:lnTo>
                  <a:pt x="12881187" y="7715143"/>
                </a:lnTo>
                <a:lnTo>
                  <a:pt x="0" y="77151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188815" y="1581872"/>
            <a:ext cx="5180774" cy="106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6"/>
              </a:lnSpc>
              <a:spcBef>
                <a:spcPct val="0"/>
              </a:spcBef>
            </a:pPr>
            <a:r>
              <a:rPr lang="en-US" b="true" sz="6876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SCHEMA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24328" y="236536"/>
            <a:ext cx="7503412" cy="158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0200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DATABASE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30107">
            <a:off x="10129546" y="7555747"/>
            <a:ext cx="4703220" cy="4703220"/>
          </a:xfrm>
          <a:custGeom>
            <a:avLst/>
            <a:gdLst/>
            <a:ahLst/>
            <a:cxnLst/>
            <a:rect r="r" b="b" t="t" l="l"/>
            <a:pathLst>
              <a:path h="4703220" w="4703220">
                <a:moveTo>
                  <a:pt x="0" y="0"/>
                </a:moveTo>
                <a:lnTo>
                  <a:pt x="4703220" y="0"/>
                </a:lnTo>
                <a:lnTo>
                  <a:pt x="4703220" y="4703220"/>
                </a:lnTo>
                <a:lnTo>
                  <a:pt x="0" y="470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72050">
            <a:off x="14762320" y="850730"/>
            <a:ext cx="5277928" cy="5277928"/>
          </a:xfrm>
          <a:custGeom>
            <a:avLst/>
            <a:gdLst/>
            <a:ahLst/>
            <a:cxnLst/>
            <a:rect r="r" b="b" t="t" l="l"/>
            <a:pathLst>
              <a:path h="5277928" w="5277928">
                <a:moveTo>
                  <a:pt x="0" y="0"/>
                </a:moveTo>
                <a:lnTo>
                  <a:pt x="5277928" y="0"/>
                </a:lnTo>
                <a:lnTo>
                  <a:pt x="5277928" y="5277928"/>
                </a:lnTo>
                <a:lnTo>
                  <a:pt x="0" y="5277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30107">
            <a:off x="8751162" y="-1237060"/>
            <a:ext cx="3525080" cy="3525080"/>
          </a:xfrm>
          <a:custGeom>
            <a:avLst/>
            <a:gdLst/>
            <a:ahLst/>
            <a:cxnLst/>
            <a:rect r="r" b="b" t="t" l="l"/>
            <a:pathLst>
              <a:path h="3525080" w="3525080">
                <a:moveTo>
                  <a:pt x="0" y="0"/>
                </a:moveTo>
                <a:lnTo>
                  <a:pt x="3525080" y="0"/>
                </a:lnTo>
                <a:lnTo>
                  <a:pt x="3525080" y="3525079"/>
                </a:lnTo>
                <a:lnTo>
                  <a:pt x="0" y="352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09923" y="-4543007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644050" y="10159685"/>
            <a:ext cx="1028700" cy="127315"/>
            <a:chOff x="0" y="0"/>
            <a:chExt cx="812800" cy="1005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706119"/>
            <a:ext cx="1028700" cy="127315"/>
            <a:chOff x="0" y="0"/>
            <a:chExt cx="812800" cy="100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75562" y="895972"/>
            <a:ext cx="4677562" cy="167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2"/>
              </a:lnSpc>
            </a:pPr>
            <a:r>
              <a:rPr lang="en-US" sz="10800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VIEWS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73878" y="3797063"/>
            <a:ext cx="12140244" cy="630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4481"/>
              </a:lnSpc>
              <a:buFont typeface="Arial"/>
              <a:buChar char="•"/>
            </a:pPr>
            <a:r>
              <a:rPr lang="en-US" b="true" sz="26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1: Client With Type (Simple Join)</a:t>
            </a:r>
          </a:p>
          <a:p>
            <a:pPr algn="l" marL="1165854" indent="-388618" lvl="2">
              <a:lnSpc>
                <a:spcPts val="4481"/>
              </a:lnSpc>
              <a:buFont typeface="Arial"/>
              <a:buChar char="⚬"/>
            </a:pPr>
            <a:r>
              <a:rPr lang="en-US" sz="26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Shows each client with their client type, helping staff quickly identify whether a client is Regular, VIP, or Corporate.</a:t>
            </a:r>
          </a:p>
          <a:p>
            <a:pPr algn="l" marL="582927" indent="-291463" lvl="1">
              <a:lnSpc>
                <a:spcPts val="4481"/>
              </a:lnSpc>
              <a:buFont typeface="Arial"/>
              <a:buChar char="•"/>
            </a:pPr>
            <a:r>
              <a:rPr lang="en-US" b="true" sz="26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2: Client Accounts (Multi-table Join)</a:t>
            </a:r>
          </a:p>
          <a:p>
            <a:pPr algn="l" marL="1165854" indent="-388618" lvl="2">
              <a:lnSpc>
                <a:spcPts val="4481"/>
              </a:lnSpc>
              <a:buFont typeface="Arial"/>
              <a:buChar char="⚬"/>
            </a:pPr>
            <a:r>
              <a:rPr lang="en-US" sz="26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List clients with their accounts, account types, and balances, giving a clear overview of each client’s banking activity.</a:t>
            </a:r>
          </a:p>
          <a:p>
            <a:pPr algn="l" marL="582927" indent="-291463" lvl="1">
              <a:lnSpc>
                <a:spcPts val="4481"/>
              </a:lnSpc>
              <a:buFont typeface="Arial"/>
              <a:buChar char="•"/>
            </a:pPr>
            <a:r>
              <a:rPr lang="en-US" b="true" sz="26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3: High Value Accounts (Subselect)</a:t>
            </a:r>
          </a:p>
          <a:p>
            <a:pPr algn="l" marL="1165854" indent="-388618" lvl="2">
              <a:lnSpc>
                <a:spcPts val="4481"/>
              </a:lnSpc>
              <a:buFont typeface="Arial"/>
              <a:buChar char="⚬"/>
            </a:pPr>
            <a:r>
              <a:rPr lang="en-US" sz="26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Displays accounts with balances that above the average, helping identify high-value customers for premium services.</a:t>
            </a:r>
          </a:p>
          <a:p>
            <a:pPr algn="l">
              <a:lnSpc>
                <a:spcPts val="5809"/>
              </a:lnSpc>
            </a:pPr>
          </a:p>
          <a:p>
            <a:pPr algn="l">
              <a:lnSpc>
                <a:spcPts val="448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743986" y="2555605"/>
            <a:ext cx="4909139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b="true" sz="5000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30107">
            <a:off x="10129546" y="7555747"/>
            <a:ext cx="4703220" cy="4703220"/>
          </a:xfrm>
          <a:custGeom>
            <a:avLst/>
            <a:gdLst/>
            <a:ahLst/>
            <a:cxnLst/>
            <a:rect r="r" b="b" t="t" l="l"/>
            <a:pathLst>
              <a:path h="4703220" w="4703220">
                <a:moveTo>
                  <a:pt x="0" y="0"/>
                </a:moveTo>
                <a:lnTo>
                  <a:pt x="4703220" y="0"/>
                </a:lnTo>
                <a:lnTo>
                  <a:pt x="4703220" y="4703220"/>
                </a:lnTo>
                <a:lnTo>
                  <a:pt x="0" y="470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72050">
            <a:off x="14762320" y="850730"/>
            <a:ext cx="5277928" cy="5277928"/>
          </a:xfrm>
          <a:custGeom>
            <a:avLst/>
            <a:gdLst/>
            <a:ahLst/>
            <a:cxnLst/>
            <a:rect r="r" b="b" t="t" l="l"/>
            <a:pathLst>
              <a:path h="5277928" w="5277928">
                <a:moveTo>
                  <a:pt x="0" y="0"/>
                </a:moveTo>
                <a:lnTo>
                  <a:pt x="5277928" y="0"/>
                </a:lnTo>
                <a:lnTo>
                  <a:pt x="5277928" y="5277928"/>
                </a:lnTo>
                <a:lnTo>
                  <a:pt x="0" y="5277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30107">
            <a:off x="8751162" y="-1237060"/>
            <a:ext cx="3525080" cy="3525080"/>
          </a:xfrm>
          <a:custGeom>
            <a:avLst/>
            <a:gdLst/>
            <a:ahLst/>
            <a:cxnLst/>
            <a:rect r="r" b="b" t="t" l="l"/>
            <a:pathLst>
              <a:path h="3525080" w="3525080">
                <a:moveTo>
                  <a:pt x="0" y="0"/>
                </a:moveTo>
                <a:lnTo>
                  <a:pt x="3525080" y="0"/>
                </a:lnTo>
                <a:lnTo>
                  <a:pt x="3525080" y="3525079"/>
                </a:lnTo>
                <a:lnTo>
                  <a:pt x="0" y="352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09923" y="-4543007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644050" y="10159685"/>
            <a:ext cx="1028700" cy="127315"/>
            <a:chOff x="0" y="0"/>
            <a:chExt cx="812800" cy="1005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706119"/>
            <a:ext cx="1028700" cy="127315"/>
            <a:chOff x="0" y="0"/>
            <a:chExt cx="812800" cy="100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75562" y="895972"/>
            <a:ext cx="4677562" cy="167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2"/>
              </a:lnSpc>
            </a:pPr>
            <a:r>
              <a:rPr lang="en-US" sz="10800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VIEWS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73878" y="3797063"/>
            <a:ext cx="12110612" cy="687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4481"/>
              </a:lnSpc>
              <a:buFont typeface="Arial"/>
              <a:buChar char="•"/>
            </a:pPr>
            <a:r>
              <a:rPr lang="en-US" b="true" sz="26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4: Account Monthly Transactions (Group By + Joins)</a:t>
            </a:r>
          </a:p>
          <a:p>
            <a:pPr algn="l" marL="1165854" indent="-388618" lvl="2">
              <a:lnSpc>
                <a:spcPts val="4481"/>
              </a:lnSpc>
              <a:buFont typeface="Arial"/>
              <a:buChar char="⚬"/>
            </a:pPr>
            <a:r>
              <a:rPr lang="en-US" sz="26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Aggregates monthly net transaction amounts per account. Useful for analyzing trends and spotting unusual activity.</a:t>
            </a:r>
          </a:p>
          <a:p>
            <a:pPr algn="l" marL="582927" indent="-291463" lvl="1">
              <a:lnSpc>
                <a:spcPts val="4481"/>
              </a:lnSpc>
              <a:buFont typeface="Arial"/>
              <a:buChar char="•"/>
            </a:pPr>
            <a:r>
              <a:rPr lang="en-US" b="true" sz="26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5: Portfolio Details (Complex Joins + Subselect + Category)</a:t>
            </a:r>
          </a:p>
          <a:p>
            <a:pPr algn="l" marL="1165854" indent="-388618" lvl="2">
              <a:lnSpc>
                <a:spcPts val="4481"/>
              </a:lnSpc>
              <a:buFont typeface="Arial"/>
              <a:buChar char="⚬"/>
            </a:pPr>
            <a:r>
              <a:rPr lang="en-US" sz="26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Shows full portfolio details including product type, risk level, and performance. Supports investment analysis and client advising.</a:t>
            </a:r>
          </a:p>
          <a:p>
            <a:pPr algn="l" marL="582927" indent="-291463" lvl="1">
              <a:lnSpc>
                <a:spcPts val="4481"/>
              </a:lnSpc>
              <a:buFont typeface="Arial"/>
              <a:buChar char="•"/>
            </a:pPr>
            <a:r>
              <a:rPr lang="en-US" b="true" sz="26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6: High Net Worth Clients (Nested Subselect + Group By)</a:t>
            </a:r>
          </a:p>
          <a:p>
            <a:pPr algn="l" marL="1165854" indent="-388618" lvl="2">
              <a:lnSpc>
                <a:spcPts val="4481"/>
              </a:lnSpc>
              <a:buFont typeface="Arial"/>
              <a:buChar char="⚬"/>
            </a:pPr>
            <a:r>
              <a:rPr lang="en-US" sz="26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Lists clients with over $10,000 invested, highlighting high net-worth clients for targeted financial services.</a:t>
            </a:r>
          </a:p>
          <a:p>
            <a:pPr algn="l">
              <a:lnSpc>
                <a:spcPts val="5809"/>
              </a:lnSpc>
            </a:pPr>
          </a:p>
          <a:p>
            <a:pPr algn="l">
              <a:lnSpc>
                <a:spcPts val="448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743986" y="2555605"/>
            <a:ext cx="4909139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b="true" sz="5000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30107">
            <a:off x="10129546" y="7555747"/>
            <a:ext cx="4703220" cy="4703220"/>
          </a:xfrm>
          <a:custGeom>
            <a:avLst/>
            <a:gdLst/>
            <a:ahLst/>
            <a:cxnLst/>
            <a:rect r="r" b="b" t="t" l="l"/>
            <a:pathLst>
              <a:path h="4703220" w="4703220">
                <a:moveTo>
                  <a:pt x="0" y="0"/>
                </a:moveTo>
                <a:lnTo>
                  <a:pt x="4703220" y="0"/>
                </a:lnTo>
                <a:lnTo>
                  <a:pt x="4703220" y="4703220"/>
                </a:lnTo>
                <a:lnTo>
                  <a:pt x="0" y="470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72050">
            <a:off x="14762320" y="850730"/>
            <a:ext cx="5277928" cy="5277928"/>
          </a:xfrm>
          <a:custGeom>
            <a:avLst/>
            <a:gdLst/>
            <a:ahLst/>
            <a:cxnLst/>
            <a:rect r="r" b="b" t="t" l="l"/>
            <a:pathLst>
              <a:path h="5277928" w="5277928">
                <a:moveTo>
                  <a:pt x="0" y="0"/>
                </a:moveTo>
                <a:lnTo>
                  <a:pt x="5277928" y="0"/>
                </a:lnTo>
                <a:lnTo>
                  <a:pt x="5277928" y="5277928"/>
                </a:lnTo>
                <a:lnTo>
                  <a:pt x="0" y="5277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30107">
            <a:off x="8751162" y="-1237060"/>
            <a:ext cx="3525080" cy="3525080"/>
          </a:xfrm>
          <a:custGeom>
            <a:avLst/>
            <a:gdLst/>
            <a:ahLst/>
            <a:cxnLst/>
            <a:rect r="r" b="b" t="t" l="l"/>
            <a:pathLst>
              <a:path h="3525080" w="3525080">
                <a:moveTo>
                  <a:pt x="0" y="0"/>
                </a:moveTo>
                <a:lnTo>
                  <a:pt x="3525080" y="0"/>
                </a:lnTo>
                <a:lnTo>
                  <a:pt x="3525080" y="3525079"/>
                </a:lnTo>
                <a:lnTo>
                  <a:pt x="0" y="352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09923" y="-4543007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644050" y="10159685"/>
            <a:ext cx="1028700" cy="127315"/>
            <a:chOff x="0" y="0"/>
            <a:chExt cx="812800" cy="1005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706119"/>
            <a:ext cx="1028700" cy="127315"/>
            <a:chOff x="0" y="0"/>
            <a:chExt cx="812800" cy="100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75562" y="895972"/>
            <a:ext cx="4677562" cy="167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2"/>
              </a:lnSpc>
            </a:pPr>
            <a:r>
              <a:rPr lang="en-US" sz="10800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VIEWS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0409" y="3477641"/>
            <a:ext cx="14998801" cy="633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817"/>
              </a:lnSpc>
              <a:buFont typeface="Arial"/>
              <a:buChar char="•"/>
            </a:pPr>
            <a:r>
              <a:rPr lang="en-US" b="true" sz="22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7: Client Account Summary (Complex Join + Left Join + Case)</a:t>
            </a:r>
          </a:p>
          <a:p>
            <a:pPr algn="l" marL="993138" indent="-331046" lvl="2">
              <a:lnSpc>
                <a:spcPts val="3817"/>
              </a:lnSpc>
              <a:buFont typeface="Arial"/>
              <a:buChar char="⚬"/>
            </a:pPr>
            <a:r>
              <a:rPr lang="en-US" sz="22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Shows client account counts and labels them as no, single, or multiple accounts, helping identify inactive or highly engaged clients.</a:t>
            </a:r>
          </a:p>
          <a:p>
            <a:pPr algn="l" marL="496569" indent="-248284" lvl="1">
              <a:lnSpc>
                <a:spcPts val="3817"/>
              </a:lnSpc>
              <a:buFont typeface="Arial"/>
              <a:buChar char="•"/>
            </a:pPr>
            <a:r>
              <a:rPr lang="en-US" b="true" sz="22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8: Financial Product Stats (CTE + Multi-Join + Aggregation)</a:t>
            </a:r>
          </a:p>
          <a:p>
            <a:pPr algn="l" marL="993138" indent="-331046" lvl="2">
              <a:lnSpc>
                <a:spcPts val="3817"/>
              </a:lnSpc>
              <a:buFont typeface="Arial"/>
              <a:buChar char="⚬"/>
            </a:pPr>
            <a:r>
              <a:rPr lang="en-US" sz="22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Summarizes investors, average investment, and total investment per product, aiding in evaluating product performance.</a:t>
            </a:r>
          </a:p>
          <a:p>
            <a:pPr algn="l" marL="496569" indent="-248284" lvl="1">
              <a:lnSpc>
                <a:spcPts val="3817"/>
              </a:lnSpc>
              <a:buFont typeface="Arial"/>
              <a:buChar char="•"/>
            </a:pPr>
            <a:r>
              <a:rPr lang="en-US" b="true" sz="22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9: Client Investment Rank (Windows Functions + Ranking)</a:t>
            </a:r>
          </a:p>
          <a:p>
            <a:pPr algn="l" marL="993138" indent="-331046" lvl="2">
              <a:lnSpc>
                <a:spcPts val="3817"/>
              </a:lnSpc>
              <a:buFont typeface="Arial"/>
              <a:buChar char="⚬"/>
            </a:pPr>
            <a:r>
              <a:rPr lang="en-US" sz="22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Ranks clients by total invested amount using window functions, helping prioritize top investors.</a:t>
            </a:r>
          </a:p>
          <a:p>
            <a:pPr algn="l" marL="496569" indent="-248284" lvl="1">
              <a:lnSpc>
                <a:spcPts val="3817"/>
              </a:lnSpc>
              <a:buFont typeface="Arial"/>
              <a:buChar char="•"/>
            </a:pPr>
            <a:r>
              <a:rPr lang="en-US" b="true" sz="22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10: Monthly Investment Performance (Multiple CTEs + Window Functions + Aggregation</a:t>
            </a:r>
          </a:p>
          <a:p>
            <a:pPr algn="l" marL="993138" indent="-331046" lvl="2">
              <a:lnSpc>
                <a:spcPts val="3817"/>
              </a:lnSpc>
              <a:buFont typeface="Arial"/>
              <a:buChar char="⚬"/>
            </a:pPr>
            <a:r>
              <a:rPr lang="en-US" sz="2299">
                <a:solidFill>
                  <a:srgbClr val="2DCD84"/>
                </a:solidFill>
                <a:latin typeface="Montserrat"/>
                <a:ea typeface="Montserrat"/>
                <a:cs typeface="Montserrat"/>
                <a:sym typeface="Montserrat"/>
              </a:rPr>
              <a:t>Monthly summary of investment totals, performance, and rankings by product type and risk level, supporting profitability and trend analysis.</a:t>
            </a:r>
          </a:p>
          <a:p>
            <a:pPr algn="l">
              <a:lnSpc>
                <a:spcPts val="5145"/>
              </a:lnSpc>
            </a:pPr>
          </a:p>
          <a:p>
            <a:pPr algn="l">
              <a:lnSpc>
                <a:spcPts val="381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743986" y="2555605"/>
            <a:ext cx="4909139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b="true" sz="5000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38201" y="-4319903"/>
            <a:ext cx="10052046" cy="10052046"/>
          </a:xfrm>
          <a:custGeom>
            <a:avLst/>
            <a:gdLst/>
            <a:ahLst/>
            <a:cxnLst/>
            <a:rect r="r" b="b" t="t" l="l"/>
            <a:pathLst>
              <a:path h="10052046" w="10052046">
                <a:moveTo>
                  <a:pt x="0" y="0"/>
                </a:moveTo>
                <a:lnTo>
                  <a:pt x="10052046" y="0"/>
                </a:lnTo>
                <a:lnTo>
                  <a:pt x="10052046" y="10052045"/>
                </a:lnTo>
                <a:lnTo>
                  <a:pt x="0" y="1005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578805"/>
            <a:ext cx="1028700" cy="127315"/>
            <a:chOff x="0" y="0"/>
            <a:chExt cx="812800" cy="100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08827" y="4319728"/>
            <a:ext cx="12270347" cy="192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75"/>
              </a:lnSpc>
              <a:spcBef>
                <a:spcPct val="0"/>
              </a:spcBef>
            </a:pPr>
            <a:r>
              <a:rPr lang="en-US" b="true" sz="12399">
                <a:solidFill>
                  <a:srgbClr val="2DCD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939980" y="6484586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88795" y="578805"/>
            <a:ext cx="1028700" cy="127315"/>
            <a:chOff x="0" y="0"/>
            <a:chExt cx="812800" cy="100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0594"/>
            </a:xfrm>
            <a:custGeom>
              <a:avLst/>
              <a:gdLst/>
              <a:ahLst/>
              <a:cxnLst/>
              <a:rect r="r" b="b" t="t" l="l"/>
              <a:pathLst>
                <a:path h="10059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594"/>
                  </a:lnTo>
                  <a:lnTo>
                    <a:pt x="0" y="100594"/>
                  </a:lnTo>
                  <a:close/>
                </a:path>
              </a:pathLst>
            </a:custGeom>
            <a:solidFill>
              <a:srgbClr val="2DCD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38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15027216" y="7216694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7315200" y="0"/>
                </a:moveTo>
                <a:lnTo>
                  <a:pt x="0" y="0"/>
                </a:lnTo>
                <a:lnTo>
                  <a:pt x="0" y="4083212"/>
                </a:lnTo>
                <a:lnTo>
                  <a:pt x="7315200" y="408321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57600" y="1216481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DAG6U1LR8pY</dc:identifier>
  <dcterms:modified xsi:type="dcterms:W3CDTF">2011-08-01T06:04:30Z</dcterms:modified>
  <cp:revision>1</cp:revision>
  <dc:title>Final Presentation Bank of Patagonia  #3 - Kurt, Santi, Carter</dc:title>
</cp:coreProperties>
</file>